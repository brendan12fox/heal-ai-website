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>
        <p:scale>
          <a:sx n="120" d="100"/>
          <a:sy n="120" d="100"/>
        </p:scale>
        <p:origin x="-8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752D7-C678-2168-4FCA-E1DC1EA99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88A51-AB99-ECBF-0881-E9C10BE40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8B5C9-7B6B-E8FD-BF33-0BC74311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BE26B-2CE7-AD8C-448E-1B2DCFEB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30FEA-302A-E685-B342-73007FF8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4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DB4E-DE1F-1AA4-8792-D0EFB494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9B3F-43E3-5747-C597-42C20C5E2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F9BF8-D8BD-BB04-7962-F948C8C2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3611-7C4E-FF2B-ED05-324B5BA6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850CA-E60D-5CA0-292F-4FB6BD24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1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ED34B-D196-5E42-84F5-E6817420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AA96B-3BFF-D3AF-9C33-457BAD873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0446D-D200-CB4D-E610-8885DF98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24D4-1F19-1BD6-3CC0-6057C65C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474E5-5F78-C310-0FF6-0F654BED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8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0AAD-640C-F6A6-0104-2FB8DCBB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D6D96-D443-2FA2-2E2E-9C4AC5459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F3950-DCFA-074E-E0DC-1A2F6B40A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5999A-325D-3185-1D69-DE786086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58C32-8148-7854-8858-B99C154A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D8F4-341F-056F-94A2-73E9AFA5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5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C974-9D17-13D2-E0DE-58C5CE7B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AFB2D-D83E-AD1F-3CD8-798E52703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1B90D-EECD-0351-45C3-5233C7B72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8E409-32A7-448C-A7F5-2C63BF136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00EC3-9DFC-B7B9-1D97-C21DA02EE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8E841A-E3FE-BA96-37E4-B36C12E2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9C885-77C5-AE15-7C4F-6A905276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75F57C-D7C9-06F6-4A63-80AEE075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8EE4-C66E-717C-35A9-3C391341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E9319-1D0F-7DE6-627E-3B6CB493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CEDA7-7DEA-3CAF-1145-C2E79567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FEC93-B49F-4BEB-72E9-39B76E1F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F0C6D-3944-4CC2-4B22-6F3D5F29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83E98-50B2-C8B8-7D7B-CB4A2C4B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5FF1B-CEB1-003B-D26E-3BCCD9EF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5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3DE6-B4C1-31B6-4D52-27CD264E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DF7E-A332-C9A1-20CC-843757BF2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B29A8-36BD-AE74-AE96-191C80B07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DB7AB-CEA2-1A3B-8F0D-D1FA7FE5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6DCAF-181B-1A3B-2156-441ECBCE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C85E6-B856-8178-B606-7995025D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5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511E4-4297-7D60-20A0-1E786DBC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AD44A9-AB2E-95E0-45D5-BAACD066C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FE905-C953-F6F6-64AE-CE3EE2362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DBB3E-8436-8026-0DE2-AE2FBD2D7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DD3C7-AA9F-C60D-3689-730B53DA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CE7C-FD26-BE2C-1C2A-86503EF8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9AD4-FA92-96CF-3841-DE3D1507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BE3A5-E57B-CC7F-24FD-7207C6D10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15FC2-A305-663B-ABB4-AFAFFF3E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2D964-5232-2D76-6F0E-49576B14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4FC50-3B21-EA98-2522-999F0443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0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8BB7E8-F1CA-51B4-2F68-C3F4621BA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FEBCF-545C-3349-4925-962D3F77E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E3EC-AEE1-B250-6A4A-FE140A6F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94106-2361-7C12-6AB2-DFBBF4B6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047B-3FD2-F1CE-E9A6-643FEA06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3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ECC2A-8B6C-6861-D8D6-3A0A1160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2B6DC-18BB-D725-682C-266C147CF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61DA9-34F3-A95E-5876-C5EBADC06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71846-E9D7-5A49-959E-076454CAD746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DE16E-CC43-3F5D-34AA-4F3F7B8A7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40FD-E0E3-28B4-472B-ADCE596F6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68297-C978-7945-8F3A-D3E28A690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1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2FFD98-BAD7-BDC2-64F6-5BC52C87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7" y="541365"/>
            <a:ext cx="12014831" cy="59266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507A73-1DAF-EBF2-F19B-0B7E18A23907}"/>
              </a:ext>
            </a:extLst>
          </p:cNvPr>
          <p:cNvSpPr txBox="1"/>
          <p:nvPr/>
        </p:nvSpPr>
        <p:spPr>
          <a:xfrm>
            <a:off x="700533" y="1578820"/>
            <a:ext cx="48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245C9-9A31-44F6-9B2E-666D91C8B1FC}"/>
              </a:ext>
            </a:extLst>
          </p:cNvPr>
          <p:cNvSpPr txBox="1"/>
          <p:nvPr/>
        </p:nvSpPr>
        <p:spPr>
          <a:xfrm>
            <a:off x="8080611" y="1578820"/>
            <a:ext cx="48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C281D-E06F-3390-807B-413B903F0174}"/>
              </a:ext>
            </a:extLst>
          </p:cNvPr>
          <p:cNvSpPr txBox="1"/>
          <p:nvPr/>
        </p:nvSpPr>
        <p:spPr>
          <a:xfrm>
            <a:off x="4390572" y="1578820"/>
            <a:ext cx="48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68516-1CB9-99DA-3B16-9DC99653EF47}"/>
              </a:ext>
            </a:extLst>
          </p:cNvPr>
          <p:cNvCxnSpPr>
            <a:cxnSpLocks/>
          </p:cNvCxnSpPr>
          <p:nvPr/>
        </p:nvCxnSpPr>
        <p:spPr>
          <a:xfrm>
            <a:off x="4383315" y="1599809"/>
            <a:ext cx="0" cy="499654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A8A9F2-8F3E-D508-74A8-1A41DA6CDC50}"/>
              </a:ext>
            </a:extLst>
          </p:cNvPr>
          <p:cNvCxnSpPr>
            <a:cxnSpLocks/>
          </p:cNvCxnSpPr>
          <p:nvPr/>
        </p:nvCxnSpPr>
        <p:spPr>
          <a:xfrm>
            <a:off x="8080611" y="1599809"/>
            <a:ext cx="0" cy="499654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59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9E8187-FA2D-A906-5B85-46FABDA0DB52}"/>
              </a:ext>
            </a:extLst>
          </p:cNvPr>
          <p:cNvSpPr txBox="1"/>
          <p:nvPr/>
        </p:nvSpPr>
        <p:spPr>
          <a:xfrm>
            <a:off x="1885589" y="4549676"/>
            <a:ext cx="842082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Figure 1.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1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GPT-4o-generated perioperative instructions by procedure, language, and target reading level, evaluated using Flesch-Kincaid Grade Level (FKGL)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Heatmaps display average FKGL readability scores for GPT-4o–generated perioperative instructions across four languages (Arabic, Bengali, English, Spanish) and five surgical procedures, stratified by target reading level: (a) 2nd grade, (b) 6th grade, and (c) high school. Lower FKGL values indicate easier-to-read text. Green and yellow shades represent lower complexity, while orange and red reflect increasingly difficult readability.</a:t>
            </a:r>
            <a:endParaRPr lang="en-US" sz="1100" dirty="0"/>
          </a:p>
        </p:txBody>
      </p:sp>
      <p:pic>
        <p:nvPicPr>
          <p:cNvPr id="4" name="Picture 3" descr="A screen shot of a chart&#10;&#10;AI-generated content may be incorrect.">
            <a:extLst>
              <a:ext uri="{FF2B5EF4-FFF2-40B4-BE49-F238E27FC236}">
                <a16:creationId xmlns:a16="http://schemas.microsoft.com/office/drawing/2014/main" id="{4344AAC8-35BA-8921-617F-6142CCEBA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89" y="875596"/>
            <a:ext cx="7772400" cy="332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7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108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Fox</dc:creator>
  <cp:lastModifiedBy>Brendan Fox</cp:lastModifiedBy>
  <cp:revision>3</cp:revision>
  <dcterms:created xsi:type="dcterms:W3CDTF">2025-07-07T22:17:51Z</dcterms:created>
  <dcterms:modified xsi:type="dcterms:W3CDTF">2025-07-08T00:59:13Z</dcterms:modified>
</cp:coreProperties>
</file>